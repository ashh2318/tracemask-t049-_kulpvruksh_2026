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B3B5A3-1705-4502-9EE2-1661EE8C4C1E}" v="2" dt="2026-09-11T10:14:20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tha Rawal" userId="1b635364c35d0bd7" providerId="LiveId" clId="{60C4EFB1-DE4E-4D84-801F-DD31D782157D}"/>
    <pc:docChg chg="undo custSel modSld">
      <pc:chgData name="Astha Rawal" userId="1b635364c35d0bd7" providerId="LiveId" clId="{60C4EFB1-DE4E-4D84-801F-DD31D782157D}" dt="2026-09-11T10:22:36.289" v="19" actId="403"/>
      <pc:docMkLst>
        <pc:docMk/>
      </pc:docMkLst>
      <pc:sldChg chg="modSp mod">
        <pc:chgData name="Astha Rawal" userId="1b635364c35d0bd7" providerId="LiveId" clId="{60C4EFB1-DE4E-4D84-801F-DD31D782157D}" dt="2026-09-11T10:13:43.915" v="8" actId="404"/>
        <pc:sldMkLst>
          <pc:docMk/>
          <pc:sldMk cId="0" sldId="281"/>
        </pc:sldMkLst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65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72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74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76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77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81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83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87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92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43.915" v="8" actId="404"/>
          <ac:spMkLst>
            <pc:docMk/>
            <pc:sldMk cId="0" sldId="281"/>
            <ac:spMk id="15393" creationId="{00000000-0000-0000-0000-000000000000}"/>
          </ac:spMkLst>
        </pc:spChg>
      </pc:sldChg>
      <pc:sldChg chg="modSp mod">
        <pc:chgData name="Astha Rawal" userId="1b635364c35d0bd7" providerId="LiveId" clId="{60C4EFB1-DE4E-4D84-801F-DD31D782157D}" dt="2026-09-11T10:13:54.254" v="9" actId="403"/>
        <pc:sldMkLst>
          <pc:docMk/>
          <pc:sldMk cId="0" sldId="290"/>
        </pc:sldMkLst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09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19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20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22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25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31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43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46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48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3:54.254" v="9" actId="403"/>
          <ac:spMkLst>
            <pc:docMk/>
            <pc:sldMk cId="0" sldId="290"/>
            <ac:spMk id="17459" creationId="{00000000-0000-0000-0000-000000000000}"/>
          </ac:spMkLst>
        </pc:spChg>
      </pc:sldChg>
      <pc:sldChg chg="delSp modSp mod">
        <pc:chgData name="Astha Rawal" userId="1b635364c35d0bd7" providerId="LiveId" clId="{60C4EFB1-DE4E-4D84-801F-DD31D782157D}" dt="2026-09-11T10:22:36.289" v="19" actId="403"/>
        <pc:sldMkLst>
          <pc:docMk/>
          <pc:sldMk cId="0" sldId="291"/>
        </pc:sldMkLst>
        <pc:spChg chg="del mod">
          <ac:chgData name="Astha Rawal" userId="1b635364c35d0bd7" providerId="LiveId" clId="{60C4EFB1-DE4E-4D84-801F-DD31D782157D}" dt="2026-09-11T07:12:08.954" v="5" actId="478"/>
          <ac:spMkLst>
            <pc:docMk/>
            <pc:sldMk cId="0" sldId="291"/>
            <ac:spMk id="4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22:22.332" v="17" actId="14100"/>
          <ac:spMkLst>
            <pc:docMk/>
            <pc:sldMk cId="0" sldId="291"/>
            <ac:spMk id="8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22:28.971" v="18" actId="1076"/>
          <ac:spMkLst>
            <pc:docMk/>
            <pc:sldMk cId="0" sldId="291"/>
            <ac:spMk id="10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22:36.289" v="19" actId="403"/>
          <ac:spMkLst>
            <pc:docMk/>
            <pc:sldMk cId="0" sldId="291"/>
            <ac:spMk id="39" creationId="{00000000-0000-0000-0000-000000000000}"/>
          </ac:spMkLst>
        </pc:spChg>
        <pc:picChg chg="mod">
          <ac:chgData name="Astha Rawal" userId="1b635364c35d0bd7" providerId="LiveId" clId="{60C4EFB1-DE4E-4D84-801F-DD31D782157D}" dt="2026-09-11T10:22:22.332" v="17" actId="14100"/>
          <ac:picMkLst>
            <pc:docMk/>
            <pc:sldMk cId="0" sldId="291"/>
            <ac:picMk id="38" creationId="{00000000-0000-0000-0000-000000000000}"/>
          </ac:picMkLst>
        </pc:picChg>
      </pc:sldChg>
      <pc:sldChg chg="modSp">
        <pc:chgData name="Astha Rawal" userId="1b635364c35d0bd7" providerId="LiveId" clId="{60C4EFB1-DE4E-4D84-801F-DD31D782157D}" dt="2026-09-11T10:14:06.839" v="10" actId="403"/>
        <pc:sldMkLst>
          <pc:docMk/>
          <pc:sldMk cId="3753387913" sldId="293"/>
        </pc:sldMkLst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10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11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13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15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18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19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21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25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26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06.839" v="10" actId="403"/>
          <ac:spMkLst>
            <pc:docMk/>
            <pc:sldMk cId="3753387913" sldId="293"/>
            <ac:spMk id="17429" creationId="{00000000-0000-0000-0000-000000000000}"/>
          </ac:spMkLst>
        </pc:spChg>
      </pc:sldChg>
      <pc:sldChg chg="modSp">
        <pc:chgData name="Astha Rawal" userId="1b635364c35d0bd7" providerId="LiveId" clId="{60C4EFB1-DE4E-4D84-801F-DD31D782157D}" dt="2026-09-11T10:14:20.411" v="11" actId="403"/>
        <pc:sldMkLst>
          <pc:docMk/>
          <pc:sldMk cId="2997144140" sldId="294"/>
        </pc:sldMkLst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15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20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22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23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30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35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43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44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47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20.411" v="11" actId="403"/>
          <ac:spMkLst>
            <pc:docMk/>
            <pc:sldMk cId="2997144140" sldId="294"/>
            <ac:spMk id="17450" creationId="{00000000-0000-0000-0000-000000000000}"/>
          </ac:spMkLst>
        </pc:spChg>
      </pc:sldChg>
      <pc:sldChg chg="modSp mod">
        <pc:chgData name="Astha Rawal" userId="1b635364c35d0bd7" providerId="LiveId" clId="{60C4EFB1-DE4E-4D84-801F-DD31D782157D}" dt="2026-09-11T10:14:36.154" v="12" actId="403"/>
        <pc:sldMkLst>
          <pc:docMk/>
          <pc:sldMk cId="3916788613" sldId="296"/>
        </pc:sldMkLst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10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14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17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21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24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25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26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27" creationId="{00000000-0000-0000-0000-000000000000}"/>
          </ac:spMkLst>
        </pc:spChg>
        <pc:spChg chg="mod">
          <ac:chgData name="Astha Rawal" userId="1b635364c35d0bd7" providerId="LiveId" clId="{60C4EFB1-DE4E-4D84-801F-DD31D782157D}" dt="2026-09-11T10:14:36.154" v="12" actId="403"/>
          <ac:spMkLst>
            <pc:docMk/>
            <pc:sldMk cId="3916788613" sldId="296"/>
            <ac:spMk id="17430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  <a:latin typeface="Arial"/>
              </a:rPr>
              <a:t>Live risk score (0–100), real scans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B7A55"/>
              </a:solidFill>
            </c:spPr>
            <c:extLst>
              <c:ext xmlns:c16="http://schemas.microsoft.com/office/drawing/2014/chart" uri="{C3380CC4-5D6E-409C-BE32-E72D297353CC}">
                <c16:uniqueId val="{00000001-F609-4138-9A43-48A9B2EB0E30}"/>
              </c:ext>
            </c:extLst>
          </c:dPt>
          <c:dPt>
            <c:idx val="1"/>
            <c:invertIfNegative val="1"/>
            <c:bubble3D val="0"/>
            <c:spPr>
              <a:solidFill>
                <a:srgbClr val="0B7A55"/>
              </a:solidFill>
            </c:spPr>
            <c:extLst>
              <c:ext xmlns:c16="http://schemas.microsoft.com/office/drawing/2014/chart" uri="{C3380CC4-5D6E-409C-BE32-E72D297353CC}">
                <c16:uniqueId val="{00000003-F609-4138-9A43-48A9B2EB0E30}"/>
              </c:ext>
            </c:extLst>
          </c:dPt>
          <c:dPt>
            <c:idx val="2"/>
            <c:invertIfNegative val="1"/>
            <c:bubble3D val="0"/>
            <c:spPr>
              <a:solidFill>
                <a:srgbClr val="B46A00"/>
              </a:solidFill>
            </c:spPr>
            <c:extLst>
              <c:ext xmlns:c16="http://schemas.microsoft.com/office/drawing/2014/chart" uri="{C3380CC4-5D6E-409C-BE32-E72D297353CC}">
                <c16:uniqueId val="{00000005-F609-4138-9A43-48A9B2EB0E30}"/>
              </c:ext>
            </c:extLst>
          </c:dPt>
          <c:dPt>
            <c:idx val="3"/>
            <c:invertIfNegative val="1"/>
            <c:bubble3D val="0"/>
            <c:spPr>
              <a:solidFill>
                <a:srgbClr val="B46A00"/>
              </a:solidFill>
            </c:spPr>
            <c:extLst>
              <c:ext xmlns:c16="http://schemas.microsoft.com/office/drawing/2014/chart" uri="{C3380CC4-5D6E-409C-BE32-E72D297353CC}">
                <c16:uniqueId val="{00000007-F609-4138-9A43-48A9B2EB0E30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github.com</c:v>
                </c:pt>
                <c:pt idx="1">
                  <c:v>myntra.com</c:v>
                </c:pt>
                <c:pt idx="2">
                  <c:v>canva.com</c:v>
                </c:pt>
                <c:pt idx="3">
                  <c:v>dominos.co.in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36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609-4138-9A43-48A9B2EB0E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6DBE6"/>
            </a:solidFill>
          </a:ln>
        </c:spPr>
        <c:txPr>
          <a:bodyPr/>
          <a:lstStyle/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t"/>
        <c:majorGridlines>
          <c:spPr>
            <a:ln>
              <a:solidFill>
                <a:srgbClr val="ECEE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55E6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100" b="1">
                <a:solidFill>
                  <a:srgbClr val="1F3864"/>
                </a:solidFill>
                <a:latin typeface="Arial"/>
              </a:rPr>
              <a:t>Breached accounts (crore), source: HIBP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81E3A"/>
              </a:solidFill>
            </c:spPr>
            <c:extLst>
              <c:ext xmlns:c16="http://schemas.microsoft.com/office/drawing/2014/chart" uri="{C3380CC4-5D6E-409C-BE32-E72D297353CC}">
                <c16:uniqueId val="{00000001-A431-4C8F-B938-2C36F49D76B4}"/>
              </c:ext>
            </c:extLst>
          </c:dPt>
          <c:dPt>
            <c:idx val="1"/>
            <c:invertIfNegative val="1"/>
            <c:bubble3D val="0"/>
            <c:spPr>
              <a:solidFill>
                <a:srgbClr val="C81E3A"/>
              </a:solidFill>
            </c:spPr>
            <c:extLst>
              <c:ext xmlns:c16="http://schemas.microsoft.com/office/drawing/2014/chart" uri="{C3380CC4-5D6E-409C-BE32-E72D297353CC}">
                <c16:uniqueId val="{00000003-A431-4C8F-B938-2C36F49D76B4}"/>
              </c:ext>
            </c:extLst>
          </c:dPt>
          <c:dPt>
            <c:idx val="2"/>
            <c:invertIfNegative val="1"/>
            <c:bubble3D val="0"/>
            <c:spPr>
              <a:solidFill>
                <a:srgbClr val="0B7A55"/>
              </a:solidFill>
            </c:spPr>
            <c:extLst>
              <c:ext xmlns:c16="http://schemas.microsoft.com/office/drawing/2014/chart" uri="{C3380CC4-5D6E-409C-BE32-E72D297353CC}">
                <c16:uniqueId val="{00000005-A431-4C8F-B938-2C36F49D76B4}"/>
              </c:ext>
            </c:extLst>
          </c:dPt>
          <c:dPt>
            <c:idx val="3"/>
            <c:invertIfNegative val="1"/>
            <c:bubble3D val="0"/>
            <c:spPr>
              <a:solidFill>
                <a:srgbClr val="0B7A55"/>
              </a:solidFill>
            </c:spPr>
            <c:extLst>
              <c:ext xmlns:c16="http://schemas.microsoft.com/office/drawing/2014/chart" uri="{C3380CC4-5D6E-409C-BE32-E72D297353CC}">
                <c16:uniqueId val="{00000007-A431-4C8F-B938-2C36F49D76B4}"/>
              </c:ext>
            </c:extLst>
          </c:dPt>
          <c:dLbls>
            <c:numFmt formatCode="0.00;\-0.00;&quot;no breach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Canva (2019)</c:v>
                </c:pt>
                <c:pt idx="1">
                  <c:v>Domino's India (2021)</c:v>
                </c:pt>
                <c:pt idx="2">
                  <c:v>Myntra</c:v>
                </c:pt>
                <c:pt idx="3">
                  <c:v>GitHub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13.73</c:v>
                </c:pt>
                <c:pt idx="1">
                  <c:v>2.25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31-4C8F-B938-2C36F49D76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6DBE6"/>
            </a:solidFill>
          </a:ln>
        </c:spPr>
        <c:txPr>
          <a:bodyPr/>
          <a:lstStyle/>
          <a:p>
            <a:pPr>
              <a:defRPr sz="1000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"/>
          <c:min val="0"/>
        </c:scaling>
        <c:delete val="0"/>
        <c:axPos val="t"/>
        <c:majorGridlines>
          <c:spPr>
            <a:ln>
              <a:solidFill>
                <a:srgbClr val="ECEEF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55E6E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fc-editor.org/rfc/rfc8601" TargetMode="External"/><Relationship Id="rId13" Type="http://schemas.openxmlformats.org/officeDocument/2006/relationships/hyperlink" Target="https://github.com/fynks/email-aliasing-comparison" TargetMode="External"/><Relationship Id="rId3" Type="http://schemas.openxmlformats.org/officeDocument/2006/relationships/hyperlink" Target="https://www.meity.gov.in/static/uploads/2024/06/2bf1f0e9f04e6fb4f8fef35e82c42aa5.pdf" TargetMode="External"/><Relationship Id="rId7" Type="http://schemas.openxmlformats.org/officeDocument/2006/relationships/hyperlink" Target="https://www.rfc-editor.org/rfc/rfc3501" TargetMode="External"/><Relationship Id="rId12" Type="http://schemas.openxmlformats.org/officeDocument/2006/relationships/hyperlink" Target="https://owasp.org/Top1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dpr-info.eu/art-17-gdpr/" TargetMode="External"/><Relationship Id="rId11" Type="http://schemas.openxmlformats.org/officeDocument/2006/relationships/hyperlink" Target="https://github.com/disconnectme/disconnect-tracking-protection" TargetMode="External"/><Relationship Id="rId5" Type="http://schemas.openxmlformats.org/officeDocument/2006/relationships/hyperlink" Target="https://www.sansalegal.com/post/dpdp-act-2023-and-rules-2025-phased-implementation-timeline-and-business-compliance-deadlines" TargetMode="External"/><Relationship Id="rId15" Type="http://schemas.openxmlformats.org/officeDocument/2006/relationships/image" Target="../media/image31.png"/><Relationship Id="rId10" Type="http://schemas.openxmlformats.org/officeDocument/2006/relationships/hyperlink" Target="https://haveibeenpwned.com/API/v3" TargetMode="External"/><Relationship Id="rId4" Type="http://schemas.openxmlformats.org/officeDocument/2006/relationships/hyperlink" Target="https://static.pib.gov.in/WriteReadData/specificdocs/documents/2025/nov/doc20251117695301.pdf" TargetMode="External"/><Relationship Id="rId9" Type="http://schemas.openxmlformats.org/officeDocument/2006/relationships/hyperlink" Target="https://rdap.org" TargetMode="External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45049" y="1223433"/>
            <a:ext cx="10363200" cy="103778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KALPVRUKSH 2.0 MINI HACKATHON</a:t>
            </a:r>
            <a:endParaRPr lang="en-IN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3430" y="2409377"/>
            <a:ext cx="5303520" cy="4021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2400" b="0" dirty="0">
                <a:solidFill>
                  <a:srgbClr val="1F3864"/>
                </a:solidFill>
                <a:latin typeface="Arial"/>
              </a:rPr>
              <a:t>P16</a:t>
            </a:r>
          </a:p>
          <a:p>
            <a:pPr marL="285750" indent="-28575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b="1" dirty="0">
                <a:solidFill>
                  <a:srgbClr val="1F3864"/>
                </a:solidFill>
                <a:latin typeface="Arial"/>
              </a:rPr>
              <a:t>Exposure of Personal Identity Through Routine Online Sign-Ups</a:t>
            </a:r>
          </a:p>
          <a:p>
            <a:pPr marL="285750" indent="-28575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Domain – </a:t>
            </a:r>
            <a:r>
              <a:rPr sz="2400" b="0" dirty="0">
                <a:solidFill>
                  <a:srgbClr val="1F3864"/>
                </a:solidFill>
                <a:latin typeface="Arial"/>
              </a:rPr>
              <a:t>Cybersecurity</a:t>
            </a:r>
          </a:p>
          <a:p>
            <a:pPr marL="285750" indent="-28575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sz="2400" b="0" dirty="0">
                <a:solidFill>
                  <a:srgbClr val="1F3864"/>
                </a:solidFill>
                <a:latin typeface="Arial"/>
              </a:rPr>
              <a:t>T049</a:t>
            </a:r>
          </a:p>
          <a:p>
            <a:pPr marL="285750" indent="-28575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sz="2400" b="0" dirty="0" err="1">
                <a:solidFill>
                  <a:srgbClr val="1F3864"/>
                </a:solidFill>
                <a:latin typeface="Arial"/>
              </a:rPr>
              <a:t>Cryptic_Vruksh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819BD3-DDDA-6CB7-3AEA-0B1FE5982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34" y="155631"/>
            <a:ext cx="4551138" cy="9281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C10AA9-29CB-7418-2EDB-370A2E4E0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830" y="26702"/>
            <a:ext cx="1481667" cy="1481667"/>
          </a:xfrm>
          <a:prstGeom prst="rect">
            <a:avLst/>
          </a:prstGeom>
        </p:spPr>
      </p:pic>
      <p:pic>
        <p:nvPicPr>
          <p:cNvPr id="38" name="Picture 37" descr="cryptic_vruksh_logo_sta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240280"/>
            <a:ext cx="2697480" cy="178509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537960" y="4160520"/>
            <a:ext cx="3749039" cy="881267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0" indent="0" algn="ctr">
              <a:buNone/>
            </a:pPr>
            <a:r>
              <a:rPr sz="1600" b="1" i="0" dirty="0">
                <a:solidFill>
                  <a:srgbClr val="555E6E"/>
                </a:solidFill>
                <a:latin typeface="Arial"/>
              </a:rPr>
              <a:t>Project: </a:t>
            </a:r>
            <a:r>
              <a:rPr sz="2000" b="1" i="0" dirty="0" err="1">
                <a:solidFill>
                  <a:srgbClr val="4F46E5"/>
                </a:solidFill>
                <a:latin typeface="Arial"/>
              </a:rPr>
              <a:t>TraceMask</a:t>
            </a:r>
            <a:endParaRPr sz="2000" b="1" i="0" dirty="0">
              <a:solidFill>
                <a:srgbClr val="4F46E5"/>
              </a:solidFill>
              <a:latin typeface="Arial"/>
            </a:endParaRPr>
          </a:p>
          <a:p>
            <a:pPr marL="0" indent="0" algn="ctr">
              <a:spcBef>
                <a:spcPts val="200"/>
              </a:spcBef>
              <a:buNone/>
            </a:pPr>
            <a:r>
              <a:rPr sz="1600" b="0" i="0" dirty="0">
                <a:solidFill>
                  <a:srgbClr val="1F2937"/>
                </a:solidFill>
                <a:latin typeface="Arial"/>
              </a:rPr>
              <a:t>A different you for every website —</a:t>
            </a:r>
          </a:p>
          <a:p>
            <a:pPr marL="0" indent="0" algn="ctr">
              <a:buNone/>
            </a:pPr>
            <a:r>
              <a:rPr sz="1600" b="0" i="0" dirty="0">
                <a:solidFill>
                  <a:srgbClr val="1F2937"/>
                </a:solidFill>
                <a:latin typeface="Arial"/>
              </a:rPr>
              <a:t>and proof of who leaked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TRACEMASK: IDENTITY FIREWALL FOR ONLINE SIGN-UPS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024128"/>
            <a:ext cx="11365992" cy="41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463040"/>
            <a:ext cx="11365992" cy="74796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sz="1400" b="0" i="0">
                <a:solidFill>
                  <a:srgbClr val="1F2937"/>
                </a:solidFill>
                <a:latin typeface="Arial"/>
              </a:rPr>
              <a:t>TraceMask is a local-first web app that </a:t>
            </a:r>
            <a:r>
              <a:rPr sz="1400" b="1" i="0">
                <a:solidFill>
                  <a:srgbClr val="1F3864"/>
                </a:solidFill>
                <a:latin typeface="Arial"/>
              </a:rPr>
              <a:t>gives every sign-up its own real, deliverable email alias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checks each website live before any data is shared, </a:t>
            </a:r>
            <a:r>
              <a:rPr sz="1400" b="1" i="0">
                <a:solidFill>
                  <a:srgbClr val="C81E3A"/>
                </a:solidFill>
                <a:latin typeface="Arial"/>
              </a:rPr>
              <a:t>automatically proves which company leaked or sold your identity</a:t>
            </a:r>
            <a:r>
              <a:rPr sz="1400" b="0" i="0">
                <a:solidFill>
                  <a:srgbClr val="1F2937"/>
                </a:solidFill>
                <a:latin typeface="Arial"/>
              </a:rPr>
              <a:t>, and turns that proof into a PDF evidence report and a DPDP/GDPR erasure request.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2212848"/>
            <a:ext cx="3657600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2688336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5366" name="Oval 15365"/>
          <p:cNvSpPr/>
          <p:nvPr/>
        </p:nvSpPr>
        <p:spPr>
          <a:xfrm>
            <a:off x="502920" y="283464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67" name="Picture 15366" descr="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" y="2966313"/>
            <a:ext cx="285292" cy="285292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1143000" y="2749285"/>
            <a:ext cx="2852928" cy="73763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4F46E5"/>
                </a:solidFill>
                <a:latin typeface="Arial"/>
              </a:rPr>
              <a:t>1  SCAN before sign-up</a:t>
            </a:r>
          </a:p>
          <a:p>
            <a:pPr marL="0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Live risk score (0–100) from TLS, domain age (RDAP), breach history (HIBP), trackers, privacy policy and DMARC.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11480" y="3593591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5370" name="Oval 15369"/>
          <p:cNvSpPr/>
          <p:nvPr/>
        </p:nvSpPr>
        <p:spPr>
          <a:xfrm>
            <a:off x="502920" y="3739896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71" name="Picture 15370" descr="m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" y="3871569"/>
            <a:ext cx="285292" cy="285292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1143000" y="3654541"/>
            <a:ext cx="2852928" cy="73763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0D9488"/>
                </a:solidFill>
                <a:latin typeface="Arial"/>
              </a:rPr>
              <a:t>2  MASK with one alias per site</a:t>
            </a:r>
          </a:p>
          <a:p>
            <a:pPr marL="0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Real, deliverable alias (you+site-x7k2p@…) with a trust tier T0 Burner, T1 Tracked, T2 Protected or T3 Real.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411480" y="4498848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5374" name="Oval 15373"/>
          <p:cNvSpPr/>
          <p:nvPr/>
        </p:nvSpPr>
        <p:spPr>
          <a:xfrm>
            <a:off x="502920" y="4645152"/>
            <a:ext cx="548640" cy="548640"/>
          </a:xfrm>
          <a:prstGeom prst="ellipse">
            <a:avLst/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75" name="Picture 15374" descr="tr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" y="4776825"/>
            <a:ext cx="285292" cy="285292"/>
          </a:xfrm>
          <a:prstGeom prst="rect">
            <a:avLst/>
          </a:prstGeom>
        </p:spPr>
      </p:pic>
      <p:sp>
        <p:nvSpPr>
          <p:cNvPr id="15376" name="TextBox 15375"/>
          <p:cNvSpPr txBox="1"/>
          <p:nvPr/>
        </p:nvSpPr>
        <p:spPr>
          <a:xfrm>
            <a:off x="1143000" y="4559797"/>
            <a:ext cx="2852928" cy="73763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C81E3A"/>
                </a:solidFill>
                <a:latin typeface="Arial"/>
              </a:rPr>
              <a:t>3  TRACE leaks automatically</a:t>
            </a:r>
          </a:p>
          <a:p>
            <a:pPr marL="0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IMAP IDLE reads only headers; any sender other than that site is a leak, proven by SPF/DKIM/DMARC.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11480" y="5404104"/>
            <a:ext cx="3657600" cy="841248"/>
          </a:xfrm>
          <a:prstGeom prst="roundRect">
            <a:avLst>
              <a:gd name="adj" fmla="val 10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5378" name="Oval 15377"/>
          <p:cNvSpPr/>
          <p:nvPr/>
        </p:nvSpPr>
        <p:spPr>
          <a:xfrm>
            <a:off x="502920" y="5550408"/>
            <a:ext cx="548640" cy="548640"/>
          </a:xfrm>
          <a:prstGeom prst="ellipse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79" name="Picture 15378" descr="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" y="5682081"/>
            <a:ext cx="285292" cy="285292"/>
          </a:xfrm>
          <a:prstGeom prst="rect">
            <a:avLst/>
          </a:prstGeom>
        </p:spPr>
      </p:pic>
      <p:sp>
        <p:nvSpPr>
          <p:cNvPr id="15380" name="TextBox 15379"/>
          <p:cNvSpPr txBox="1"/>
          <p:nvPr/>
        </p:nvSpPr>
        <p:spPr>
          <a:xfrm>
            <a:off x="1143000" y="5465053"/>
            <a:ext cx="2852928" cy="73763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B46A00"/>
                </a:solidFill>
                <a:latin typeface="Arial"/>
              </a:rPr>
              <a:t>4  ACT on the evidence</a:t>
            </a:r>
          </a:p>
          <a:p>
            <a:pPr marL="0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Auto-quarantine, SHA-256 evidence PDF and a one-click erasure letter under DPDP Act 2023 / GDPR.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265676" y="2212848"/>
            <a:ext cx="3657600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How it addresses the problem</a:t>
            </a:r>
          </a:p>
        </p:txBody>
      </p:sp>
      <p:graphicFrame>
        <p:nvGraphicFramePr>
          <p:cNvPr id="15382" name="Table 15381"/>
          <p:cNvGraphicFramePr>
            <a:graphicFrameLocks noGrp="1"/>
          </p:cNvGraphicFramePr>
          <p:nvPr/>
        </p:nvGraphicFramePr>
        <p:xfrm>
          <a:off x="4265676" y="2688336"/>
          <a:ext cx="3657600" cy="35661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P16 pain point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TraceMask answer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C81E3A"/>
                          </a:solidFill>
                          <a:latin typeface="Arial"/>
                        </a:rPr>
                        <a:t>A real address is a persistent identifier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Unique alias per site, so companies have nothing to link across services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C81E3A"/>
                          </a:solidFill>
                          <a:latin typeface="Arial"/>
                        </a:rPr>
                        <a:t>Users can't tell who leaked or sold the address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Automatic leak attribution with authenticated-sender proof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C81E3A"/>
                          </a:solidFill>
                          <a:latin typeface="Arial"/>
                        </a:rPr>
                        <a:t>Unsubscribe stops mail but keeps the data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Evidence-backed erasure request with 30-day follow-up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C81E3A"/>
                          </a:solidFill>
                          <a:latin typeface="Arial"/>
                        </a:rPr>
                        <a:t>Fake data breaks account recovery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Aliases are real: resets always arrive (T2 never auto-blocked)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C81E3A"/>
                          </a:solidFill>
                          <a:latin typeface="Arial"/>
                        </a:rPr>
                        <a:t>Many identities are hard to manage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Created in one click and all tracked in one dashboard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C81E3A"/>
                          </a:solidFill>
                          <a:latin typeface="Arial"/>
                        </a:rPr>
                        <a:t>Sites deserve different trust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Tier T0–T3 from live risk score + purpose of sign-up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383" name="Rounded Rectangle 15382"/>
          <p:cNvSpPr/>
          <p:nvPr/>
        </p:nvSpPr>
        <p:spPr>
          <a:xfrm>
            <a:off x="8119871" y="2212848"/>
            <a:ext cx="3657600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84" name="Oval 15383"/>
          <p:cNvSpPr/>
          <p:nvPr/>
        </p:nvSpPr>
        <p:spPr>
          <a:xfrm>
            <a:off x="8138159" y="2743200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85" name="Picture 15384" descr="tr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720" y="2839760"/>
            <a:ext cx="209214" cy="209214"/>
          </a:xfrm>
          <a:prstGeom prst="rect">
            <a:avLst/>
          </a:prstGeom>
        </p:spPr>
      </p:pic>
      <p:sp>
        <p:nvSpPr>
          <p:cNvPr id="15386" name="TextBox 15385"/>
          <p:cNvSpPr txBox="1"/>
          <p:nvPr/>
        </p:nvSpPr>
        <p:spPr>
          <a:xfrm>
            <a:off x="8622792" y="2687286"/>
            <a:ext cx="3154680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Leak attribution, not just aliasing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Names the leaking company within seconds, with signed-sender proof.</a:t>
            </a:r>
          </a:p>
        </p:txBody>
      </p:sp>
      <p:sp>
        <p:nvSpPr>
          <p:cNvPr id="15387" name="Oval 15386"/>
          <p:cNvSpPr/>
          <p:nvPr/>
        </p:nvSpPr>
        <p:spPr>
          <a:xfrm>
            <a:off x="8138159" y="3300984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88" name="Picture 15387" descr="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4720" y="3397544"/>
            <a:ext cx="209214" cy="209214"/>
          </a:xfrm>
          <a:prstGeom prst="rect">
            <a:avLst/>
          </a:prstGeom>
        </p:spPr>
      </p:pic>
      <p:sp>
        <p:nvSpPr>
          <p:cNvPr id="15389" name="TextBox 15388"/>
          <p:cNvSpPr txBox="1"/>
          <p:nvPr/>
        </p:nvSpPr>
        <p:spPr>
          <a:xfrm>
            <a:off x="8622792" y="3245070"/>
            <a:ext cx="3154680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Risk-aware identity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Live scan + purpose decide the tier: burner, tracked, protected or real.</a:t>
            </a:r>
          </a:p>
        </p:txBody>
      </p:sp>
      <p:sp>
        <p:nvSpPr>
          <p:cNvPr id="15390" name="Oval 15389"/>
          <p:cNvSpPr/>
          <p:nvPr/>
        </p:nvSpPr>
        <p:spPr>
          <a:xfrm>
            <a:off x="8138159" y="3858768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91" name="Picture 15390" descr="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720" y="3955328"/>
            <a:ext cx="209214" cy="209214"/>
          </a:xfrm>
          <a:prstGeom prst="rect">
            <a:avLst/>
          </a:prstGeom>
        </p:spPr>
      </p:pic>
      <p:sp>
        <p:nvSpPr>
          <p:cNvPr id="15392" name="TextBox 15391"/>
          <p:cNvSpPr txBox="1"/>
          <p:nvPr/>
        </p:nvSpPr>
        <p:spPr>
          <a:xfrm>
            <a:off x="8622792" y="3802854"/>
            <a:ext cx="3154680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Evidence-grade output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SHA-256 hashed headers, chain of custody, DPDP-referenced PDF.</a:t>
            </a:r>
          </a:p>
        </p:txBody>
      </p:sp>
      <p:sp>
        <p:nvSpPr>
          <p:cNvPr id="15393" name="Oval 15392"/>
          <p:cNvSpPr/>
          <p:nvPr/>
        </p:nvSpPr>
        <p:spPr>
          <a:xfrm>
            <a:off x="8138159" y="4416552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5394" name="Picture 15393" descr="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4720" y="4513112"/>
            <a:ext cx="209214" cy="209214"/>
          </a:xfrm>
          <a:prstGeom prst="rect">
            <a:avLst/>
          </a:prstGeom>
        </p:spPr>
      </p:pic>
      <p:sp>
        <p:nvSpPr>
          <p:cNvPr id="15395" name="TextBox 15394"/>
          <p:cNvSpPr txBox="1"/>
          <p:nvPr/>
        </p:nvSpPr>
        <p:spPr>
          <a:xfrm>
            <a:off x="8622792" y="4360638"/>
            <a:ext cx="3154680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Private by design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Runs on 127.0.0.1, zero third-party packages, encrypted vault.</a:t>
            </a:r>
          </a:p>
        </p:txBody>
      </p:sp>
      <p:graphicFrame>
        <p:nvGraphicFramePr>
          <p:cNvPr id="15396" name="Table 15395"/>
          <p:cNvGraphicFramePr>
            <a:graphicFrameLocks noGrp="1"/>
          </p:cNvGraphicFramePr>
          <p:nvPr/>
        </p:nvGraphicFramePr>
        <p:xfrm>
          <a:off x="8119871" y="4956048"/>
          <a:ext cx="3657600" cy="11521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Alias services*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TraceMask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 i="0">
                          <a:solidFill>
                            <a:srgbClr val="1F2937"/>
                          </a:solidFill>
                          <a:latin typeface="Arial"/>
                        </a:rPr>
                        <a:t>Automatic leak attribution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>
                          <a:solidFill>
                            <a:srgbClr val="555E6E"/>
                          </a:solidFill>
                          <a:latin typeface="Arial"/>
                        </a:rPr>
                        <a:t>Manual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>
                          <a:solidFill>
                            <a:srgbClr val="0B7A55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 i="0">
                          <a:solidFill>
                            <a:srgbClr val="1F2937"/>
                          </a:solidFill>
                          <a:latin typeface="Arial"/>
                        </a:rPr>
                        <a:t>Pre-sign-up risk scan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>
                          <a:solidFill>
                            <a:srgbClr val="555E6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>
                          <a:solidFill>
                            <a:srgbClr val="0B7A55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1" i="0">
                          <a:solidFill>
                            <a:srgbClr val="1F2937"/>
                          </a:solidFill>
                          <a:latin typeface="Arial"/>
                        </a:rPr>
                        <a:t>Evidence PDF + erasure letter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>
                          <a:solidFill>
                            <a:srgbClr val="555E6E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>
                          <a:solidFill>
                            <a:srgbClr val="0B7A55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397" name="TextBox 15396"/>
          <p:cNvSpPr txBox="1"/>
          <p:nvPr/>
        </p:nvSpPr>
        <p:spPr>
          <a:xfrm>
            <a:off x="8119871" y="6135624"/>
            <a:ext cx="3657600" cy="19389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0" indent="0" algn="l">
              <a:buNone/>
            </a:pPr>
            <a:r>
              <a:rPr sz="900" b="0" i="1">
                <a:solidFill>
                  <a:srgbClr val="555E6E"/>
                </a:solidFill>
                <a:latin typeface="Arial"/>
              </a:rPr>
              <a:t>*Firefox Relay, SimpleLogin, DuckDuckGo, addy.io (see ref. 12)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773641"/>
            <a:ext cx="10972800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828800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100" b="1" i="0">
                <a:solidFill>
                  <a:srgbClr val="FFFFFF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429768" y="2540317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2" name="Picture 17411" descr="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" y="2628099"/>
            <a:ext cx="190195" cy="190195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68680" y="2533915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Node.js 24 (JavaScript)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Zero third-party npm packages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429768" y="3012376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5" name="Picture 17414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" y="3100158"/>
            <a:ext cx="190195" cy="190195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868680" y="3005973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node:sqlite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Local database, WAL mode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429768" y="3484435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8" name="Picture 17417" descr="brow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" y="3572217"/>
            <a:ext cx="190195" cy="190195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868680" y="3478032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Vanilla JS single-page app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Strict CSP, responsive UI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429768" y="3956494"/>
            <a:ext cx="365760" cy="365760"/>
          </a:xfrm>
          <a:prstGeom prst="ellipse">
            <a:avLst/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1" name="Picture 17420" descr="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" y="4044276"/>
            <a:ext cx="190195" cy="190195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868680" y="3950092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IMAP4rev1 + IDLE over TLS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Own client, headers only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429768" y="4428553"/>
            <a:ext cx="365760" cy="365760"/>
          </a:xfrm>
          <a:prstGeom prst="ellipse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4" name="Picture 17423" descr="ke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50" y="4516335"/>
            <a:ext cx="190195" cy="190195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868680" y="4422151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scrypt + AES-256-GCM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Encrypted local vault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429768" y="4900612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7" name="Picture 17426" descr="glo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" y="4988394"/>
            <a:ext cx="190195" cy="190195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868680" y="4894210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RDAP · HIBP · Disconnect · PSL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Live public data sources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429768" y="5372671"/>
            <a:ext cx="365760" cy="365760"/>
          </a:xfrm>
          <a:prstGeom prst="ellipse">
            <a:avLst/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30" name="Picture 17429" descr="f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550" y="5460453"/>
            <a:ext cx="190195" cy="190195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868680" y="5366269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PDF 1.7 writer (own)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Compliance-grade reports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429768" y="5844730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33" name="Picture 17432" descr="lapt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550" y="5932512"/>
            <a:ext cx="190195" cy="190195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868680" y="5838328"/>
            <a:ext cx="2971800" cy="378565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Any laptop · Win / macOS / Linux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555E6E"/>
                </a:solidFill>
                <a:latin typeface="Arial"/>
              </a:rPr>
              <a:t>Runs on 127.0.0.1, Rs 0 cost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4069080" y="1828800"/>
            <a:ext cx="7708392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069080" y="3154679"/>
            <a:ext cx="1051560" cy="868680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50" b="1" i="0">
                <a:solidFill>
                  <a:srgbClr val="4F46E5"/>
                </a:solidFill>
                <a:latin typeface="Arial"/>
              </a:rPr>
              <a:t>Browser</a:t>
            </a:r>
          </a:p>
          <a:p>
            <a:pPr marL="0" indent="0" algn="ctr"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Single-page app</a:t>
            </a:r>
          </a:p>
          <a:p>
            <a:pPr marL="0" indent="0" algn="ctr"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strict CSP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394960" y="2331720"/>
            <a:ext cx="2331720" cy="2487168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38" name="TextBox 17437"/>
          <p:cNvSpPr txBox="1"/>
          <p:nvPr/>
        </p:nvSpPr>
        <p:spPr>
          <a:xfrm>
            <a:off x="5394960" y="2350008"/>
            <a:ext cx="2331720" cy="2092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1F3864"/>
                </a:solidFill>
                <a:latin typeface="Arial"/>
              </a:rPr>
              <a:t>TraceMask server · 127.0.0.1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504688" y="2642615"/>
            <a:ext cx="2112263" cy="365760"/>
          </a:xfrm>
          <a:prstGeom prst="roundRect">
            <a:avLst>
              <a:gd name="adj" fmla="val 1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Site scanner + SSRF guard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5504688" y="3068726"/>
            <a:ext cx="2112263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Alias &amp; trust-tier engine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504688" y="3494836"/>
            <a:ext cx="2112263" cy="365760"/>
          </a:xfrm>
          <a:prstGeom prst="roundRect">
            <a:avLst>
              <a:gd name="adj" fmla="val 15000"/>
            </a:avLst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IMAP sync + leak engine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504688" y="3920947"/>
            <a:ext cx="2112263" cy="365760"/>
          </a:xfrm>
          <a:prstGeom prst="roundRect">
            <a:avLst>
              <a:gd name="adj" fmla="val 15000"/>
            </a:avLst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PDF reports · erasure letters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5504688" y="4347057"/>
            <a:ext cx="2112263" cy="36576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Vault (AES-256-GCM) · SQLite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5120640" y="3589020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TextBox 17444"/>
          <p:cNvSpPr txBox="1"/>
          <p:nvPr/>
        </p:nvSpPr>
        <p:spPr>
          <a:xfrm>
            <a:off x="5102352" y="3337560"/>
            <a:ext cx="31089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800" b="1" i="0">
                <a:solidFill>
                  <a:srgbClr val="555E6E"/>
                </a:solidFill>
                <a:latin typeface="Arial"/>
              </a:rPr>
              <a:t>API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046719" y="2587752"/>
            <a:ext cx="1417320" cy="475488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4F46E5"/>
                </a:solidFill>
                <a:latin typeface="Arial"/>
              </a:rPr>
              <a:t>Public sources</a:t>
            </a:r>
          </a:p>
          <a:p>
            <a:pPr marL="0" indent="0" algn="ctr">
              <a:buNone/>
            </a:pPr>
            <a:r>
              <a:rPr sz="800" b="0" i="0">
                <a:solidFill>
                  <a:srgbClr val="1F2937"/>
                </a:solidFill>
                <a:latin typeface="Arial"/>
              </a:rPr>
              <a:t>DNS · TLS · RDAP · HIBP · web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7616952" y="2825496"/>
            <a:ext cx="429767" cy="0"/>
          </a:xfrm>
          <a:prstGeom prst="line">
            <a:avLst/>
          </a:prstGeom>
          <a:ln w="19050">
            <a:solidFill>
              <a:srgbClr val="4F46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Rounded Rectangle 17447"/>
          <p:cNvSpPr/>
          <p:nvPr/>
        </p:nvSpPr>
        <p:spPr>
          <a:xfrm>
            <a:off x="8046719" y="3439972"/>
            <a:ext cx="1417320" cy="475488"/>
          </a:xfrm>
          <a:prstGeom prst="roundRect">
            <a:avLst>
              <a:gd name="adj" fmla="val 12000"/>
            </a:avLst>
          </a:prstGeom>
          <a:solidFill>
            <a:srgbClr val="FDEEF0"/>
          </a:solidFill>
          <a:ln w="9525">
            <a:solidFill>
              <a:srgbClr val="C8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C81E3A"/>
                </a:solidFill>
                <a:latin typeface="Arial"/>
              </a:rPr>
              <a:t>Your mailbox</a:t>
            </a:r>
          </a:p>
          <a:p>
            <a:pPr marL="0" indent="0" algn="ctr">
              <a:buNone/>
            </a:pPr>
            <a:r>
              <a:rPr sz="800" b="0" i="0">
                <a:solidFill>
                  <a:srgbClr val="1F2937"/>
                </a:solidFill>
                <a:latin typeface="Arial"/>
              </a:rPr>
              <a:t>Gmail IMAP · TLS 993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7616952" y="3677716"/>
            <a:ext cx="429767" cy="0"/>
          </a:xfrm>
          <a:prstGeom prst="line">
            <a:avLst/>
          </a:prstGeom>
          <a:ln w="19050">
            <a:solidFill>
              <a:srgbClr val="C81E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8046719" y="4292193"/>
            <a:ext cx="1417320" cy="47548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1F3864"/>
                </a:solidFill>
                <a:latin typeface="Arial"/>
              </a:rPr>
              <a:t>Local disk</a:t>
            </a:r>
          </a:p>
          <a:p>
            <a:pPr marL="0" indent="0" algn="ctr">
              <a:buNone/>
            </a:pPr>
            <a:r>
              <a:rPr sz="800" b="0" i="0">
                <a:solidFill>
                  <a:srgbClr val="1F2937"/>
                </a:solidFill>
                <a:latin typeface="Arial"/>
              </a:rPr>
              <a:t>data/ folder, encrypted secrets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7616952" y="4529937"/>
            <a:ext cx="429767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52" name="Picture 17451" descr="shot-sc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5208" y="2331720"/>
            <a:ext cx="2112264" cy="1710636"/>
          </a:xfrm>
          <a:prstGeom prst="rect">
            <a:avLst/>
          </a:prstGeom>
          <a:ln w="9525">
            <a:solidFill>
              <a:srgbClr val="D6DBE6"/>
            </a:solidFill>
          </a:ln>
        </p:spPr>
      </p:pic>
      <p:sp>
        <p:nvSpPr>
          <p:cNvPr id="17453" name="TextBox 17452"/>
          <p:cNvSpPr txBox="1"/>
          <p:nvPr/>
        </p:nvSpPr>
        <p:spPr>
          <a:xfrm>
            <a:off x="9665208" y="4069788"/>
            <a:ext cx="2112264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0" indent="0" algn="ctr">
              <a:buNone/>
            </a:pPr>
            <a:r>
              <a:rPr sz="900" b="0" i="1">
                <a:solidFill>
                  <a:srgbClr val="555E6E"/>
                </a:solidFill>
                <a:latin typeface="Arial"/>
              </a:rPr>
              <a:t>Working prototype: live scan of dominos.co.in on the team laptop (score 44/100)</a:t>
            </a:r>
          </a:p>
        </p:txBody>
      </p:sp>
      <p:sp>
        <p:nvSpPr>
          <p:cNvPr id="17454" name="Pentagon 17453"/>
          <p:cNvSpPr/>
          <p:nvPr/>
        </p:nvSpPr>
        <p:spPr>
          <a:xfrm>
            <a:off x="4069080" y="4983479"/>
            <a:ext cx="1391411" cy="420624"/>
          </a:xfrm>
          <a:prstGeom prst="homePlate">
            <a:avLst>
              <a:gd name="adj" fmla="val 3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1. Scan site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069080" y="5422392"/>
            <a:ext cx="1171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4F46E5"/>
                </a:solidFill>
                <a:latin typeface="Arial"/>
              </a:rPr>
              <a:t>live risk score</a:t>
            </a:r>
          </a:p>
        </p:txBody>
      </p:sp>
      <p:sp>
        <p:nvSpPr>
          <p:cNvPr id="17456" name="Chevron 17455"/>
          <p:cNvSpPr/>
          <p:nvPr/>
        </p:nvSpPr>
        <p:spPr>
          <a:xfrm>
            <a:off x="5332476" y="4983479"/>
            <a:ext cx="1391411" cy="420624"/>
          </a:xfrm>
          <a:prstGeom prst="chevron">
            <a:avLst>
              <a:gd name="adj" fmla="val 3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2. Pick tier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5442204" y="5422392"/>
            <a:ext cx="1171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0D9488"/>
                </a:solidFill>
                <a:latin typeface="Arial"/>
              </a:rPr>
              <a:t>purpose + risk</a:t>
            </a:r>
          </a:p>
        </p:txBody>
      </p:sp>
      <p:sp>
        <p:nvSpPr>
          <p:cNvPr id="17458" name="Chevron 17457"/>
          <p:cNvSpPr/>
          <p:nvPr/>
        </p:nvSpPr>
        <p:spPr>
          <a:xfrm>
            <a:off x="6595872" y="4983479"/>
            <a:ext cx="1391411" cy="420624"/>
          </a:xfrm>
          <a:prstGeom prst="chevron">
            <a:avLst>
              <a:gd name="adj" fmla="val 3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3. Create alias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705600" y="5422392"/>
            <a:ext cx="1171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0D9488"/>
                </a:solidFill>
                <a:latin typeface="Arial"/>
              </a:rPr>
              <a:t>one per site</a:t>
            </a:r>
          </a:p>
        </p:txBody>
      </p:sp>
      <p:sp>
        <p:nvSpPr>
          <p:cNvPr id="17460" name="Chevron 17459"/>
          <p:cNvSpPr/>
          <p:nvPr/>
        </p:nvSpPr>
        <p:spPr>
          <a:xfrm>
            <a:off x="7859267" y="4983479"/>
            <a:ext cx="1391411" cy="420624"/>
          </a:xfrm>
          <a:prstGeom prst="chevron">
            <a:avLst>
              <a:gd name="adj" fmla="val 32000"/>
            </a:avLst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4. Sync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7968995" y="5422392"/>
            <a:ext cx="1171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C81E3A"/>
                </a:solidFill>
                <a:latin typeface="Arial"/>
              </a:rPr>
              <a:t>IMAP IDLE ~2 s</a:t>
            </a:r>
          </a:p>
        </p:txBody>
      </p:sp>
      <p:sp>
        <p:nvSpPr>
          <p:cNvPr id="17462" name="Chevron 17461"/>
          <p:cNvSpPr/>
          <p:nvPr/>
        </p:nvSpPr>
        <p:spPr>
          <a:xfrm>
            <a:off x="9122664" y="4983479"/>
            <a:ext cx="1391411" cy="420624"/>
          </a:xfrm>
          <a:prstGeom prst="chevron">
            <a:avLst>
              <a:gd name="adj" fmla="val 32000"/>
            </a:avLst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5. Attribute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9232392" y="5422392"/>
            <a:ext cx="1171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C81E3A"/>
                </a:solidFill>
                <a:latin typeface="Arial"/>
              </a:rPr>
              <a:t>leak / lookalike</a:t>
            </a:r>
          </a:p>
        </p:txBody>
      </p:sp>
      <p:sp>
        <p:nvSpPr>
          <p:cNvPr id="17464" name="Chevron 17463"/>
          <p:cNvSpPr/>
          <p:nvPr/>
        </p:nvSpPr>
        <p:spPr>
          <a:xfrm>
            <a:off x="10386059" y="4983479"/>
            <a:ext cx="1391411" cy="420624"/>
          </a:xfrm>
          <a:prstGeom prst="chevron">
            <a:avLst>
              <a:gd name="adj" fmla="val 32000"/>
            </a:avLst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bIns="27432" rtlCol="0" anchor="ctr"/>
          <a:lstStyle/>
          <a:p>
            <a:pPr marL="0" indent="0" algn="ctr">
              <a:buNone/>
            </a:pPr>
            <a:r>
              <a:rPr sz="1000" b="1" i="0">
                <a:solidFill>
                  <a:srgbClr val="FFFFFF"/>
                </a:solidFill>
                <a:latin typeface="Arial"/>
              </a:rPr>
              <a:t>6. Act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10495787" y="5422392"/>
            <a:ext cx="11719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900" b="1" i="0">
                <a:solidFill>
                  <a:srgbClr val="B46A00"/>
                </a:solidFill>
                <a:latin typeface="Arial"/>
              </a:rPr>
              <a:t>quarantine · PDF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4069080" y="5714999"/>
            <a:ext cx="7708392" cy="36317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0" indent="0" algn="just">
              <a:buNone/>
            </a:pPr>
            <a:r>
              <a:rPr sz="1000" b="1" i="0">
                <a:solidFill>
                  <a:srgbClr val="1F3864"/>
                </a:solidFill>
                <a:latin typeface="Arial"/>
              </a:rPr>
              <a:t>Verified end-to-end: </a:t>
            </a:r>
            <a:r>
              <a:rPr sz="1000" b="0" i="0">
                <a:solidFill>
                  <a:srgbClr val="1F2937"/>
                </a:solidFill>
                <a:latin typeface="Arial"/>
              </a:rPr>
              <a:t>real IMAP sync, leak attribution, quarantine (MOVE) and real-time IDLE alert tested; four compliance PDF reports generated from real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743301"/>
            <a:ext cx="10972800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810512"/>
            <a:ext cx="2704338" cy="868680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11" name="Oval 17410"/>
          <p:cNvSpPr/>
          <p:nvPr/>
        </p:nvSpPr>
        <p:spPr>
          <a:xfrm>
            <a:off x="521208" y="1993392"/>
            <a:ext cx="502920" cy="502920"/>
          </a:xfrm>
          <a:prstGeom prst="ellipse">
            <a:avLst/>
          </a:prstGeom>
          <a:solidFill>
            <a:srgbClr val="0B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2" name="Picture 17411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" y="2114092"/>
            <a:ext cx="261518" cy="26151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124712" y="1906297"/>
            <a:ext cx="1917954" cy="67710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2400" b="1" i="0">
                <a:solidFill>
                  <a:srgbClr val="0B7A55"/>
                </a:solidFill>
                <a:latin typeface="Arial"/>
              </a:rPr>
              <a:t>24 / 24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web-attack security checks passed (OWASP-based probe)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8698" y="1810512"/>
            <a:ext cx="2704338" cy="868680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15" name="Oval 17414"/>
          <p:cNvSpPr/>
          <p:nvPr/>
        </p:nvSpPr>
        <p:spPr>
          <a:xfrm>
            <a:off x="3408426" y="1993392"/>
            <a:ext cx="502920" cy="502920"/>
          </a:xfrm>
          <a:prstGeom prst="ellipse">
            <a:avLst/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6" name="Picture 17415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126" y="2114092"/>
            <a:ext cx="261518" cy="261518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4011930" y="1906297"/>
            <a:ext cx="1917954" cy="67710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2400" b="1" i="0">
                <a:solidFill>
                  <a:srgbClr val="C81E3A"/>
                </a:solidFill>
                <a:latin typeface="Arial"/>
              </a:rPr>
              <a:t>~2 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from a leaked email arriving to the alert (IMAP IDLE)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85916" y="1810512"/>
            <a:ext cx="2704338" cy="868680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19" name="Oval 17418"/>
          <p:cNvSpPr/>
          <p:nvPr/>
        </p:nvSpPr>
        <p:spPr>
          <a:xfrm>
            <a:off x="6295644" y="1993392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0" name="Picture 17419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344" y="2114092"/>
            <a:ext cx="261518" cy="261518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6899148" y="1906297"/>
            <a:ext cx="1917954" cy="67710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2400" b="1" i="0">
                <a:solidFill>
                  <a:srgbClr val="4F46E5"/>
                </a:solidFill>
                <a:latin typeface="Arial"/>
              </a:rPr>
              <a:t>1–2 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per live site scan on the team laptop (3 real sites)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073134" y="1810512"/>
            <a:ext cx="2704338" cy="868680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23" name="Oval 17422"/>
          <p:cNvSpPr/>
          <p:nvPr/>
        </p:nvSpPr>
        <p:spPr>
          <a:xfrm>
            <a:off x="9182861" y="1993392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4" name="Picture 17423" descr="cu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3562" y="2114092"/>
            <a:ext cx="261518" cy="261518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9786365" y="1906297"/>
            <a:ext cx="1917954" cy="67710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2400" b="1" i="0">
                <a:solidFill>
                  <a:srgbClr val="0D9488"/>
                </a:solidFill>
                <a:latin typeface="Arial"/>
              </a:rPr>
              <a:t>0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third-party packages · Rs 0 running cost · no cloud server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11480" y="2816352"/>
            <a:ext cx="5532120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Analysis of the feasibility of the idea</a:t>
            </a:r>
          </a:p>
        </p:txBody>
      </p:sp>
      <p:graphicFrame>
        <p:nvGraphicFramePr>
          <p:cNvPr id="17427" name="Chart 174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62210"/>
              </p:ext>
            </p:extLst>
          </p:nvPr>
        </p:nvGraphicFramePr>
        <p:xfrm>
          <a:off x="411480" y="3273552"/>
          <a:ext cx="2971800" cy="2990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428" name="TextBox 17427"/>
          <p:cNvSpPr txBox="1"/>
          <p:nvPr/>
        </p:nvSpPr>
        <p:spPr>
          <a:xfrm>
            <a:off x="3474720" y="3490721"/>
            <a:ext cx="2468879" cy="257403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146304" indent="-146304" algn="just">
              <a:lnSpc>
                <a:spcPct val="100000"/>
              </a:lnSpc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Already built and running</a:t>
            </a:r>
            <a:r>
              <a:rPr sz="1050" b="0" i="0">
                <a:solidFill>
                  <a:srgbClr val="1F2937"/>
                </a:solidFill>
                <a:latin typeface="Arial"/>
              </a:rPr>
              <a:t> — about 4,400 lines in 36 files, installed on the team laptop.</a:t>
            </a:r>
          </a:p>
          <a:p>
            <a:pPr marL="146304" indent="-146304" algn="just">
              <a:lnSpc>
                <a:spcPct val="100000"/>
              </a:lnSpc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Uses free, public data</a:t>
            </a:r>
            <a:r>
              <a:rPr sz="1050" b="0" i="0">
                <a:solidFill>
                  <a:srgbClr val="1F2937"/>
                </a:solidFill>
                <a:latin typeface="Arial"/>
              </a:rPr>
              <a:t> — RDAP, Have I Been Pwned, Disconnect list, DNS and TLS.</a:t>
            </a:r>
          </a:p>
          <a:p>
            <a:pPr marL="146304" indent="-146304" algn="just">
              <a:lnSpc>
                <a:spcPct val="100000"/>
              </a:lnSpc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Works with any IMAP mailbox</a:t>
            </a:r>
            <a:r>
              <a:rPr sz="1050" b="0" i="0">
                <a:solidFill>
                  <a:srgbClr val="1F2937"/>
                </a:solidFill>
                <a:latin typeface="Arial"/>
              </a:rPr>
              <a:t> — Gmail, Zoho or your own domain; no API approval needed.</a:t>
            </a:r>
          </a:p>
          <a:p>
            <a:pPr marL="146304" indent="-146304" algn="just">
              <a:lnSpc>
                <a:spcPct val="100000"/>
              </a:lnSpc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No hosting cost</a:t>
            </a:r>
            <a:r>
              <a:rPr sz="1050" b="0" i="0">
                <a:solidFill>
                  <a:srgbClr val="1F2937"/>
                </a:solidFill>
                <a:latin typeface="Arial"/>
              </a:rPr>
              <a:t> — everything runs locally on 127.0.0.1.</a:t>
            </a:r>
          </a:p>
          <a:p>
            <a:pPr marL="146304" indent="-146304" algn="just">
              <a:lnSpc>
                <a:spcPct val="100000"/>
              </a:lnSpc>
              <a:spcAft>
                <a:spcPts val="500"/>
              </a:spcAft>
              <a:buClr>
                <a:srgbClr val="1F3864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Honest scoring</a:t>
            </a:r>
            <a:r>
              <a:rPr sz="1050" b="0" i="0">
                <a:solidFill>
                  <a:srgbClr val="1F2937"/>
                </a:solidFill>
                <a:latin typeface="Arial"/>
              </a:rPr>
              <a:t> — checks a site refuses are marked unverified and add risk.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72200" y="2816352"/>
            <a:ext cx="5605272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100" b="1" i="0">
                <a:solidFill>
                  <a:srgbClr val="FFFFFF"/>
                </a:solidFill>
                <a:latin typeface="Arial"/>
              </a:rPr>
              <a:t>Potential challenges and risks  →  Strategies for overcoming these challenges</a:t>
            </a:r>
          </a:p>
        </p:txBody>
      </p:sp>
      <p:graphicFrame>
        <p:nvGraphicFramePr>
          <p:cNvPr id="17430" name="Table 174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238843"/>
              </p:ext>
            </p:extLst>
          </p:nvPr>
        </p:nvGraphicFramePr>
        <p:xfrm>
          <a:off x="6172200" y="3291840"/>
          <a:ext cx="5605272" cy="29717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5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 b="1" i="0">
                          <a:solidFill>
                            <a:srgbClr val="FFFFFF"/>
                          </a:solidFill>
                          <a:latin typeface="Arial"/>
                        </a:rPr>
                        <a:t>Challenge / risk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 b="1" i="0">
                          <a:solidFill>
                            <a:srgbClr val="FFFFFF"/>
                          </a:solidFill>
                          <a:latin typeface="Arial"/>
                        </a:rPr>
                        <a:t>Strategy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1" i="0">
                          <a:solidFill>
                            <a:srgbClr val="C81E3A"/>
                          </a:solidFill>
                          <a:latin typeface="Arial"/>
                        </a:rPr>
                        <a:t>Spammers can strip the +tag from Gmail aliases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0" i="0">
                          <a:solidFill>
                            <a:srgbClr val="1F2937"/>
                          </a:solidFill>
                          <a:latin typeface="Arial"/>
                        </a:rPr>
                        <a:t>Catch-all domain mode gives fully separate addresses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1" i="0">
                          <a:solidFill>
                            <a:srgbClr val="C81E3A"/>
                          </a:solidFill>
                          <a:latin typeface="Arial"/>
                        </a:rPr>
                        <a:t>Sites block automated scans (HTTP 403)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0" i="0">
                          <a:solidFill>
                            <a:srgbClr val="1F2937"/>
                          </a:solidFill>
                          <a:latin typeface="Arial"/>
                        </a:rPr>
                        <a:t>Signal marked "unverified" and scored as risk, never as safe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1" i="0">
                          <a:solidFill>
                            <a:srgbClr val="C81E3A"/>
                          </a:solidFill>
                          <a:latin typeface="Arial"/>
                        </a:rPr>
                        <a:t>Companies mail from other domains (false leaks)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0" i="0">
                          <a:solidFill>
                            <a:srgbClr val="1F2937"/>
                          </a:solidFill>
                          <a:latin typeface="Arial"/>
                        </a:rPr>
                        <a:t>"Lookalike" review + one-click "same company" trust list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1" i="0">
                          <a:solidFill>
                            <a:srgbClr val="C81E3A"/>
                          </a:solidFill>
                          <a:latin typeface="Arial"/>
                        </a:rPr>
                        <a:t>Gmail needs an app password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0" i="0">
                          <a:solidFill>
                            <a:srgbClr val="1F2937"/>
                          </a:solidFill>
                          <a:latin typeface="Arial"/>
                        </a:rPr>
                        <a:t>Guided onboarding, TLS-only, password encrypted with AES-256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1" i="0">
                          <a:solidFill>
                            <a:srgbClr val="C81E3A"/>
                          </a:solidFill>
                          <a:latin typeface="Arial"/>
                        </a:rPr>
                        <a:t>DPDP duties on companies start 13 May 2027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0" i="0">
                          <a:solidFill>
                            <a:srgbClr val="1F2937"/>
                          </a:solidFill>
                          <a:latin typeface="Arial"/>
                        </a:rPr>
                        <a:t>Letters cite the Act + own policy today; GDPR where applicable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1" i="0">
                          <a:solidFill>
                            <a:srgbClr val="C81E3A"/>
                          </a:solidFill>
                          <a:latin typeface="Arial"/>
                        </a:rPr>
                        <a:t>Local app could itself be attacked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40" b="0" i="0">
                          <a:solidFill>
                            <a:srgbClr val="1F2937"/>
                          </a:solidFill>
                          <a:latin typeface="Arial"/>
                        </a:rPr>
                        <a:t>SSRF guard, CSRF/DNS-rebinding checks, 24-check security probe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50333" y="75494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810512"/>
            <a:ext cx="5532120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2286000"/>
            <a:ext cx="2674620" cy="676656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12" name="Oval 17411"/>
          <p:cNvSpPr/>
          <p:nvPr/>
        </p:nvSpPr>
        <p:spPr>
          <a:xfrm>
            <a:off x="502920" y="2414016"/>
            <a:ext cx="420624" cy="4206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3" name="Picture 17412" descr="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69" y="2514965"/>
            <a:ext cx="218724" cy="21872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96696" y="2358102"/>
            <a:ext cx="2034539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Students &amp; job seekers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Sign up to dozens of portals; keep the inbox clean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68980" y="2286000"/>
            <a:ext cx="2674620" cy="676656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16" name="Oval 17415"/>
          <p:cNvSpPr/>
          <p:nvPr/>
        </p:nvSpPr>
        <p:spPr>
          <a:xfrm>
            <a:off x="3360420" y="2414016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7" name="Picture 17416" descr="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369" y="2514965"/>
            <a:ext cx="218724" cy="218724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854196" y="2358102"/>
            <a:ext cx="2034539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Online shoppers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Stop sales spam and phishing from sold data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3035808"/>
            <a:ext cx="2674620" cy="676656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20" name="Oval 17419"/>
          <p:cNvSpPr/>
          <p:nvPr/>
        </p:nvSpPr>
        <p:spPr>
          <a:xfrm>
            <a:off x="502920" y="3163824"/>
            <a:ext cx="420624" cy="420624"/>
          </a:xfrm>
          <a:prstGeom prst="ellipse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1" name="Picture 17420" descr="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69" y="3264773"/>
            <a:ext cx="218724" cy="218724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996696" y="3107910"/>
            <a:ext cx="2034539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Professionals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Keep work identity out of breach lists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68980" y="3035808"/>
            <a:ext cx="2674620" cy="676656"/>
          </a:xfrm>
          <a:prstGeom prst="roundRect">
            <a:avLst>
              <a:gd name="adj" fmla="val 12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24" name="Oval 17423"/>
          <p:cNvSpPr/>
          <p:nvPr/>
        </p:nvSpPr>
        <p:spPr>
          <a:xfrm>
            <a:off x="3360420" y="3163824"/>
            <a:ext cx="420624" cy="420624"/>
          </a:xfrm>
          <a:prstGeom prst="ellipse">
            <a:avLst/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5" name="Picture 17424" descr="st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369" y="3264773"/>
            <a:ext cx="218724" cy="21872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3854196" y="3107910"/>
            <a:ext cx="2034539" cy="53245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Communities &amp; SMEs</a:t>
            </a:r>
          </a:p>
          <a:p>
            <a:pPr marL="0" indent="0" algn="l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Evidence to hold vendors accountable</a:t>
            </a:r>
          </a:p>
        </p:txBody>
      </p:sp>
      <p:graphicFrame>
        <p:nvGraphicFramePr>
          <p:cNvPr id="17427" name="Chart 174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961973"/>
              </p:ext>
            </p:extLst>
          </p:nvPr>
        </p:nvGraphicFramePr>
        <p:xfrm>
          <a:off x="411480" y="3840479"/>
          <a:ext cx="55321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428" name="Rounded Rectangle 17427"/>
          <p:cNvSpPr/>
          <p:nvPr/>
        </p:nvSpPr>
        <p:spPr>
          <a:xfrm>
            <a:off x="6172200" y="1810512"/>
            <a:ext cx="5605272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72200" y="2286000"/>
            <a:ext cx="2711196" cy="148132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30" name="Oval 17429"/>
          <p:cNvSpPr/>
          <p:nvPr/>
        </p:nvSpPr>
        <p:spPr>
          <a:xfrm>
            <a:off x="6281928" y="2395728"/>
            <a:ext cx="420624" cy="4206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31" name="Picture 17430" descr="he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877" y="2496677"/>
            <a:ext cx="218724" cy="218724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6775704" y="2470618"/>
            <a:ext cx="2025396" cy="27084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4F46E5"/>
                </a:solidFill>
                <a:latin typeface="Arial"/>
              </a:rPr>
              <a:t>Social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263640" y="2871216"/>
            <a:ext cx="2528316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Everyday users regain control of who holds their identity</a:t>
            </a:r>
          </a:p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Evidence lets people exercise DPDP rights, not just complain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066276" y="2286000"/>
            <a:ext cx="2711196" cy="148132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35" name="Oval 17434"/>
          <p:cNvSpPr/>
          <p:nvPr/>
        </p:nvSpPr>
        <p:spPr>
          <a:xfrm>
            <a:off x="9176004" y="2395728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36" name="Picture 17435" descr="rup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6953" y="2496677"/>
            <a:ext cx="218724" cy="218724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9669780" y="2470618"/>
            <a:ext cx="2025396" cy="27084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D9488"/>
                </a:solidFill>
                <a:latin typeface="Arial"/>
              </a:rPr>
              <a:t>Economic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157716" y="2871216"/>
            <a:ext cx="2528316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Free, open and local: no subscription, no cloud bill</a:t>
            </a:r>
          </a:p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Less phishing and fraud exposure from leaked addresses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72200" y="3877056"/>
            <a:ext cx="2711196" cy="148132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40" name="Oval 17439"/>
          <p:cNvSpPr/>
          <p:nvPr/>
        </p:nvSpPr>
        <p:spPr>
          <a:xfrm>
            <a:off x="6281928" y="3986784"/>
            <a:ext cx="420624" cy="420624"/>
          </a:xfrm>
          <a:prstGeom prst="ellipse">
            <a:avLst/>
          </a:prstGeom>
          <a:solidFill>
            <a:srgbClr val="0B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41" name="Picture 17440" descr="lea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877" y="4087733"/>
            <a:ext cx="218724" cy="218724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6775704" y="4061674"/>
            <a:ext cx="2025396" cy="27084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0B7A55"/>
                </a:solidFill>
                <a:latin typeface="Arial"/>
              </a:rPr>
              <a:t>Environmental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263640" y="4462272"/>
            <a:ext cx="2528316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Runs on the laptop you already own; no servers or data centre</a:t>
            </a:r>
          </a:p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Reads headers only: minimal data processed and stored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9066276" y="3877056"/>
            <a:ext cx="2711196" cy="148132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45" name="Oval 17444"/>
          <p:cNvSpPr/>
          <p:nvPr/>
        </p:nvSpPr>
        <p:spPr>
          <a:xfrm>
            <a:off x="9176004" y="3986784"/>
            <a:ext cx="420624" cy="420624"/>
          </a:xfrm>
          <a:prstGeom prst="ellipse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46" name="Picture 17445" descr="balan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6953" y="4087733"/>
            <a:ext cx="218724" cy="218724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9669780" y="4061674"/>
            <a:ext cx="2025396" cy="270843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400" b="1" i="0">
                <a:solidFill>
                  <a:srgbClr val="B46A00"/>
                </a:solidFill>
                <a:latin typeface="Arial"/>
              </a:rPr>
              <a:t>Legal &amp; regulatory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9157716" y="4462272"/>
            <a:ext cx="2528316" cy="70942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Supports DPDP s.8(6), 11, 12, 13 and GDPR Art. 17</a:t>
            </a:r>
          </a:p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1F3864"/>
              </a:buClr>
              <a:buFont typeface="Arial"/>
              <a:buChar char="•"/>
            </a:pPr>
            <a:r>
              <a:rPr sz="1000" b="0" i="0">
                <a:solidFill>
                  <a:srgbClr val="1F2937"/>
                </a:solidFill>
                <a:latin typeface="Arial"/>
              </a:rPr>
              <a:t>Pushes companies towards accountable data handling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172200" y="5486400"/>
            <a:ext cx="2711196" cy="777239"/>
          </a:xfrm>
          <a:prstGeom prst="roundRect">
            <a:avLst>
              <a:gd name="adj" fmla="val 10000"/>
            </a:avLst>
          </a:prstGeom>
          <a:solidFill>
            <a:srgbClr val="FDEEF0"/>
          </a:solidFill>
          <a:ln w="9525">
            <a:solidFill>
              <a:srgbClr val="C81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100" b="1" i="0">
                <a:solidFill>
                  <a:srgbClr val="C81E3A"/>
                </a:solidFill>
                <a:latin typeface="Arial"/>
              </a:rPr>
              <a:t>Without TraceMask</a:t>
            </a:r>
          </a:p>
          <a:p>
            <a:pPr marL="0" indent="0" algn="ctr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One address shared everywhere, no idea who leaked it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9066276" y="5486400"/>
            <a:ext cx="2711196" cy="777239"/>
          </a:xfrm>
          <a:prstGeom prst="roundRect">
            <a:avLst>
              <a:gd name="adj" fmla="val 10000"/>
            </a:avLst>
          </a:prstGeom>
          <a:solidFill>
            <a:srgbClr val="E6F6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sz="1100" b="1" i="0">
                <a:solidFill>
                  <a:srgbClr val="0D9488"/>
                </a:solidFill>
                <a:latin typeface="Arial"/>
              </a:rPr>
              <a:t>With TraceMask</a:t>
            </a:r>
          </a:p>
          <a:p>
            <a:pPr marL="0" indent="0" algn="ctr"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One alias per site, leaker named in seconds, with proof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8901684" y="5875020"/>
            <a:ext cx="146304" cy="0"/>
          </a:xfrm>
          <a:prstGeom prst="line">
            <a:avLst/>
          </a:prstGeom>
          <a:ln w="19050">
            <a:solidFill>
              <a:srgbClr val="555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704828"/>
            <a:ext cx="10972800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411480" y="1810512"/>
            <a:ext cx="6903720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Details / Links of the reference and research work</a:t>
            </a:r>
          </a:p>
        </p:txBody>
      </p:sp>
      <p:graphicFrame>
        <p:nvGraphicFramePr>
          <p:cNvPr id="17411" name="Table 17410"/>
          <p:cNvGraphicFramePr>
            <a:graphicFrameLocks noGrp="1"/>
          </p:cNvGraphicFramePr>
          <p:nvPr/>
        </p:nvGraphicFramePr>
        <p:xfrm>
          <a:off x="411480" y="2286000"/>
          <a:ext cx="6903720" cy="39776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Link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Problem Statement P16 dossier (SPEC-P16-187E4A5F4)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555E6E"/>
                          </a:solidFill>
                          <a:latin typeface="Arial"/>
                        </a:rPr>
                        <a:t>Kalpvruksh 2.0 organisers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Digital Personal Data Protection Act, 2023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3"/>
                        </a:rPr>
                        <a:t>meity.gov.in (official PDF)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DPDP Rules, 2025 notified (13 Nov 2025)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4"/>
                        </a:rPr>
                        <a:t>static.pib.gov.in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DPDP phased implementation timeline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5"/>
                        </a:rPr>
                        <a:t>sansalegal.com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GDPR Article 17: right to erasure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6"/>
                        </a:rPr>
                        <a:t>gdpr-info.eu/art-17-gdpr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RFC 3501 IMAP4rev1 / RFC 2177 IMAP IDLE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7"/>
                        </a:rPr>
                        <a:t>rfc-editor.org/rfc/rfc3501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RFC 8601 Authentication-Results (SPF, DKIM, DMARC)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8"/>
                        </a:rPr>
                        <a:t>rfc-editor.org/rfc/rfc8601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RDAP domain registration data (RFC 9083)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9"/>
                        </a:rPr>
                        <a:t>rdap.org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Have I Been Pwned API v3: breach catalogue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10"/>
                        </a:rPr>
                        <a:t>haveibeenpwned.com/API/v3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Disconnect tracking-protection list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11"/>
                        </a:rPr>
                        <a:t>github.com/disconnectme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OWASP Top 10 (2021) web application risks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12"/>
                        </a:rPr>
                        <a:t>owasp.org/Top10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59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1" i="0">
                          <a:solidFill>
                            <a:srgbClr val="1F293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>
                          <a:solidFill>
                            <a:srgbClr val="1F2937"/>
                          </a:solidFill>
                          <a:latin typeface="Arial"/>
                        </a:rPr>
                        <a:t>Email alias services compared (Relay, SimpleLogin, DDG…)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19" b="0" i="0" u="sng">
                          <a:solidFill>
                            <a:srgbClr val="4F46E5"/>
                          </a:solidFill>
                          <a:latin typeface="Arial"/>
                          <a:hlinkClick r:id="rId13"/>
                        </a:rPr>
                        <a:t>github.com/fynks</a:t>
                      </a:r>
                    </a:p>
                  </a:txBody>
                  <a:tcPr marL="64008" marR="64008" marT="22860" marB="22860" anchor="ctr">
                    <a:lnL w="6350">
                      <a:solidFill>
                        <a:srgbClr val="D6DBE6"/>
                      </a:solidFill>
                    </a:lnL>
                    <a:lnR w="6350">
                      <a:solidFill>
                        <a:srgbClr val="D6DBE6"/>
                      </a:solidFill>
                    </a:lnR>
                    <a:lnT w="6350">
                      <a:solidFill>
                        <a:srgbClr val="D6DBE6"/>
                      </a:solidFill>
                    </a:lnT>
                    <a:lnB w="6350">
                      <a:solidFill>
                        <a:srgbClr val="D6DBE6"/>
                      </a:solidFill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7412" name="Rounded Rectangle 17411"/>
          <p:cNvSpPr/>
          <p:nvPr/>
        </p:nvSpPr>
        <p:spPr>
          <a:xfrm>
            <a:off x="7543800" y="1810512"/>
            <a:ext cx="4233672" cy="384048"/>
          </a:xfrm>
          <a:prstGeom prst="roundRect">
            <a:avLst>
              <a:gd name="adj" fmla="val 1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45720" bIns="27432" rtlCol="0" anchor="ctr"/>
          <a:lstStyle/>
          <a:p>
            <a:pPr marL="201168" indent="-201168" algn="l">
              <a:buClr>
                <a:srgbClr val="FFFFFF"/>
              </a:buClr>
              <a:buFont typeface="Wingdings" pitchFamily="2" charset="2"/>
              <a:buChar char="v"/>
            </a:pPr>
            <a:r>
              <a:rPr sz="1200" b="1" i="0">
                <a:solidFill>
                  <a:srgbClr val="FFFFFF"/>
                </a:solidFill>
                <a:latin typeface="Arial"/>
              </a:rPr>
              <a:t>Key research findings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543800" y="2286000"/>
            <a:ext cx="4233672" cy="932688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14" name="Oval 17413"/>
          <p:cNvSpPr/>
          <p:nvPr/>
        </p:nvSpPr>
        <p:spPr>
          <a:xfrm>
            <a:off x="7653527" y="24688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15" name="Picture 17414" descr="flas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3255" y="2578608"/>
            <a:ext cx="237744" cy="23774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8202168" y="2409173"/>
            <a:ext cx="3502152" cy="68634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4F46E5"/>
                </a:solidFill>
                <a:latin typeface="Arial"/>
              </a:rPr>
              <a:t>The gap we fill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sz="1000" b="0" i="0">
                <a:solidFill>
                  <a:srgbClr val="1F2937"/>
                </a:solidFill>
                <a:latin typeface="Arial"/>
              </a:rPr>
              <a:t>Alias services exist, but none detects breaches automatically; users must map aliases to sites by hand (ref. 12). TraceMask automates that attribution.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543800" y="3310128"/>
            <a:ext cx="4233672" cy="1481328"/>
          </a:xfrm>
          <a:prstGeom prst="roundRect">
            <a:avLst>
              <a:gd name="adj" fmla="val 8000"/>
            </a:avLst>
          </a:prstGeom>
          <a:solidFill>
            <a:srgbClr val="F7F8FB"/>
          </a:solidFill>
          <a:ln w="9525">
            <a:solidFill>
              <a:srgbClr val="D6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18" name="TextBox 17417"/>
          <p:cNvSpPr txBox="1"/>
          <p:nvPr/>
        </p:nvSpPr>
        <p:spPr>
          <a:xfrm>
            <a:off x="7653527" y="3364992"/>
            <a:ext cx="4014216" cy="224677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1F3864"/>
                </a:solidFill>
                <a:latin typeface="Arial"/>
              </a:rPr>
              <a:t>DPDP roll-out (refs. 2–4): why now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8257031" y="3913632"/>
            <a:ext cx="2807209" cy="0"/>
          </a:xfrm>
          <a:prstGeom prst="line">
            <a:avLst/>
          </a:prstGeom>
          <a:ln w="254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Oval 17419"/>
          <p:cNvSpPr/>
          <p:nvPr/>
        </p:nvSpPr>
        <p:spPr>
          <a:xfrm>
            <a:off x="8174736" y="3831336"/>
            <a:ext cx="164592" cy="164592"/>
          </a:xfrm>
          <a:prstGeom prst="ellipse">
            <a:avLst/>
          </a:prstGeom>
          <a:solidFill>
            <a:srgbClr val="0B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21" name="TextBox 17420"/>
          <p:cNvSpPr txBox="1"/>
          <p:nvPr/>
        </p:nvSpPr>
        <p:spPr>
          <a:xfrm>
            <a:off x="7653527" y="4041648"/>
            <a:ext cx="120700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0B7A55"/>
                </a:solidFill>
                <a:latin typeface="Arial"/>
              </a:rPr>
              <a:t>13 Nov 2025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Data Protection Board set up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9578340" y="3831336"/>
            <a:ext cx="164592" cy="164592"/>
          </a:xfrm>
          <a:prstGeom prst="ellipse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23" name="TextBox 17422"/>
          <p:cNvSpPr txBox="1"/>
          <p:nvPr/>
        </p:nvSpPr>
        <p:spPr>
          <a:xfrm>
            <a:off x="9057132" y="4041648"/>
            <a:ext cx="120700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B46A00"/>
                </a:solidFill>
                <a:latin typeface="Arial"/>
              </a:rPr>
              <a:t>13 Nov 2026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Consent managers begin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10981944" y="3831336"/>
            <a:ext cx="164592" cy="164592"/>
          </a:xfrm>
          <a:prstGeom prst="ellipse">
            <a:avLst/>
          </a:prstGeom>
          <a:solidFill>
            <a:srgbClr val="C8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25" name="TextBox 17424"/>
          <p:cNvSpPr txBox="1"/>
          <p:nvPr/>
        </p:nvSpPr>
        <p:spPr>
          <a:xfrm>
            <a:off x="10460736" y="4041648"/>
            <a:ext cx="1207008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1000" b="1" i="0">
                <a:solidFill>
                  <a:srgbClr val="C81E3A"/>
                </a:solidFill>
                <a:latin typeface="Arial"/>
              </a:rPr>
              <a:t>13 May 2027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900" b="0" i="0">
                <a:solidFill>
                  <a:srgbClr val="1F2937"/>
                </a:solidFill>
                <a:latin typeface="Arial"/>
              </a:rPr>
              <a:t>Duties incl. erasure apply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543800" y="4882896"/>
            <a:ext cx="4233672" cy="1380743"/>
          </a:xfrm>
          <a:prstGeom prst="roundRect">
            <a:avLst>
              <a:gd name="adj" fmla="val 6000"/>
            </a:avLst>
          </a:prstGeom>
          <a:solidFill>
            <a:srgbClr val="E6F6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sp>
        <p:nvSpPr>
          <p:cNvPr id="17427" name="Oval 17426"/>
          <p:cNvSpPr/>
          <p:nvPr/>
        </p:nvSpPr>
        <p:spPr>
          <a:xfrm>
            <a:off x="7653527" y="4992624"/>
            <a:ext cx="402336" cy="40233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sz="2000"/>
          </a:p>
        </p:txBody>
      </p:sp>
      <p:pic>
        <p:nvPicPr>
          <p:cNvPr id="17428" name="Picture 17427" descr="chec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0088" y="5089184"/>
            <a:ext cx="209214" cy="20921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8147304" y="5081453"/>
            <a:ext cx="3547872" cy="224677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0D9488"/>
                </a:solidFill>
                <a:latin typeface="Arial"/>
              </a:rPr>
              <a:t>Prototype validation (11 Sep 2026)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671816" y="5449824"/>
            <a:ext cx="3977640" cy="75895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0D9488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Real scans</a:t>
            </a:r>
            <a:r>
              <a:rPr sz="1000" b="0" i="0">
                <a:solidFill>
                  <a:srgbClr val="1F2937"/>
                </a:solidFill>
                <a:latin typeface="Arial"/>
              </a:rPr>
              <a:t> of canva.com, dominos.co.in, myntra.com and github.com matched HIBP and RDAP records</a:t>
            </a:r>
          </a:p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0D9488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24/24</a:t>
            </a:r>
            <a:r>
              <a:rPr sz="1000" b="0" i="0">
                <a:solidFill>
                  <a:srgbClr val="1F2937"/>
                </a:solidFill>
                <a:latin typeface="Arial"/>
              </a:rPr>
              <a:t> OWASP-based security checks passed after fixing 6 findings</a:t>
            </a:r>
          </a:p>
          <a:p>
            <a:pPr marL="146304" indent="-146304" algn="just">
              <a:lnSpc>
                <a:spcPct val="100000"/>
              </a:lnSpc>
              <a:spcAft>
                <a:spcPts val="300"/>
              </a:spcAft>
              <a:buClr>
                <a:srgbClr val="0D9488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~2 s</a:t>
            </a:r>
            <a:r>
              <a:rPr sz="1000" b="0" i="0">
                <a:solidFill>
                  <a:srgbClr val="1F2937"/>
                </a:solidFill>
                <a:latin typeface="Arial"/>
              </a:rPr>
              <a:t> from a leaked email arriving to the leak alert (IMAP IDLE)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7549</TotalTime>
  <Words>1523</Words>
  <Application>Microsoft Office PowerPoint</Application>
  <PresentationFormat>Widescreen</PresentationFormat>
  <Paragraphs>236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KALPVRUKSH 2.0 MINI HACKATHON</vt:lpstr>
      <vt:lpstr> TRACEMASK: IDENTITY FIREWALL FOR ONLINE SIGN-UPS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TraceMask Pitch Deck (Kalpvruksh 2.0, P16, Team T049)</dc:title>
  <dc:subject/>
  <dc:creator>Team Cryptic_Vruksh</dc:creator>
  <cp:keywords/>
  <dc:description/>
  <cp:lastModifiedBy>Team Cryptic_Vruksh</cp:lastModifiedBy>
  <cp:revision>153</cp:revision>
  <dcterms:created xsi:type="dcterms:W3CDTF">2013-12-12T18:46:50Z</dcterms:created>
  <dcterms:modified xsi:type="dcterms:W3CDTF">2026-09-11T10:22:38Z</dcterms:modified>
  <cp:category/>
</cp:coreProperties>
</file>